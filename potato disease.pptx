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6" r:id="rId2"/>
  </p:sldMasterIdLst>
  <p:notesMasterIdLst>
    <p:notesMasterId r:id="rId20"/>
  </p:notesMasterIdLst>
  <p:sldIdLst>
    <p:sldId id="256" r:id="rId3"/>
    <p:sldId id="265" r:id="rId4"/>
    <p:sldId id="264" r:id="rId5"/>
    <p:sldId id="267" r:id="rId6"/>
    <p:sldId id="268" r:id="rId7"/>
    <p:sldId id="258" r:id="rId8"/>
    <p:sldId id="270" r:id="rId9"/>
    <p:sldId id="269" r:id="rId10"/>
    <p:sldId id="271" r:id="rId11"/>
    <p:sldId id="272" r:id="rId12"/>
    <p:sldId id="260" r:id="rId13"/>
    <p:sldId id="261" r:id="rId14"/>
    <p:sldId id="262" r:id="rId15"/>
    <p:sldId id="266" r:id="rId16"/>
    <p:sldId id="263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EF"/>
    <a:srgbClr val="193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794416-8DCC-B6B8-5084-763D15C61A8C}" v="125" dt="2025-10-09T03:29:25.0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EFA0B-6FFF-4663-9C8E-9F84F870A04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48A7B-5349-4232-9C37-12A825933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39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374370D-C6E0-468B-92E6-2B18F6E40DD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22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29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C1CA67F-9182-485D-AC20-7A44FB6E932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46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7F15C8E-2F2E-447F-980F-683405F244F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9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5DA5677-08E8-4985-99A4-E204BAC91ED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8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0FFC6F-48A1-40DD-8DB1-6847668566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41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0" y="-237847"/>
            <a:ext cx="9144000" cy="4266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F60C061-F63B-4D9C-B6B3-6EA3829967F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C45B1E-3714-436F-A336-26E1E49CD898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51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195A0D8-35E0-4094-90D1-B7325F193FE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002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79B4CEE-DC36-4EA5-BBF2-6148A4FABBC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07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C1D686-C21C-4373-95D1-23D14AEF2AC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3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223380E-E836-41BF-92BC-73A4C56D274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11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4723805" y="446484"/>
            <a:ext cx="3750469" cy="57864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669727" y="446484"/>
            <a:ext cx="3750469" cy="2803922"/>
          </a:xfrm>
          <a:prstGeom prst="rect">
            <a:avLst/>
          </a:prstGeom>
        </p:spPr>
        <p:txBody>
          <a:bodyPr anchor="b"/>
          <a:lstStyle>
            <a:lvl1pPr>
              <a:defRPr sz="3164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669727" y="3348634"/>
            <a:ext cx="3750469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88"/>
            </a:lvl1pPr>
            <a:lvl2pPr marL="0" indent="120547" algn="ctr">
              <a:spcBef>
                <a:spcPts val="0"/>
              </a:spcBef>
              <a:buSzTx/>
              <a:buNone/>
              <a:defRPr sz="1688"/>
            </a:lvl2pPr>
            <a:lvl3pPr marL="0" indent="241093" algn="ctr">
              <a:spcBef>
                <a:spcPts val="0"/>
              </a:spcBef>
              <a:buSzTx/>
              <a:buNone/>
              <a:defRPr sz="1688"/>
            </a:lvl3pPr>
            <a:lvl4pPr marL="0" indent="361640" algn="ctr">
              <a:spcBef>
                <a:spcPts val="0"/>
              </a:spcBef>
              <a:buSzTx/>
              <a:buNone/>
              <a:defRPr sz="1688"/>
            </a:lvl4pPr>
            <a:lvl5pPr marL="0" indent="482186" algn="ctr">
              <a:spcBef>
                <a:spcPts val="0"/>
              </a:spcBef>
              <a:buSzTx/>
              <a:buNone/>
              <a:defRPr sz="1688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71759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311701" y="842402"/>
            <a:ext cx="2807999" cy="10075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buSzPct val="100000"/>
              <a:defRPr sz="1800"/>
            </a:lvl4pPr>
            <a:lvl5pPr lvl="4">
              <a:spcBef>
                <a:spcPts val="0"/>
              </a:spcBef>
              <a:buSzPct val="100000"/>
              <a:defRPr sz="1800"/>
            </a:lvl5pPr>
            <a:lvl6pPr lvl="5">
              <a:spcBef>
                <a:spcPts val="0"/>
              </a:spcBef>
              <a:buSzPct val="100000"/>
              <a:defRPr sz="1800"/>
            </a:lvl6pPr>
            <a:lvl7pPr lvl="6">
              <a:spcBef>
                <a:spcPts val="0"/>
              </a:spcBef>
              <a:buSzPct val="100000"/>
              <a:defRPr sz="1800"/>
            </a:lvl7pPr>
            <a:lvl8pPr lvl="7">
              <a:spcBef>
                <a:spcPts val="0"/>
              </a:spcBef>
              <a:buSzPct val="100000"/>
              <a:defRPr sz="1800"/>
            </a:lvl8pPr>
            <a:lvl9pPr lvl="8">
              <a:spcBef>
                <a:spcPts val="0"/>
              </a:spcBef>
              <a:buSzPct val="100000"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311701" y="2157604"/>
            <a:ext cx="2807999" cy="393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900"/>
            </a:lvl1pPr>
            <a:lvl2pPr lvl="1">
              <a:spcBef>
                <a:spcPts val="0"/>
              </a:spcBef>
              <a:buSzPct val="100000"/>
              <a:defRPr sz="900"/>
            </a:lvl2pPr>
            <a:lvl3pPr lvl="2">
              <a:spcBef>
                <a:spcPts val="0"/>
              </a:spcBef>
              <a:buSzPct val="100000"/>
              <a:defRPr sz="900"/>
            </a:lvl3pPr>
            <a:lvl4pPr lvl="3">
              <a:spcBef>
                <a:spcPts val="0"/>
              </a:spcBef>
              <a:buSzPct val="100000"/>
              <a:defRPr sz="900"/>
            </a:lvl4pPr>
            <a:lvl5pPr lvl="4">
              <a:spcBef>
                <a:spcPts val="0"/>
              </a:spcBef>
              <a:buSzPct val="100000"/>
              <a:defRPr sz="900"/>
            </a:lvl5pPr>
            <a:lvl6pPr lvl="5">
              <a:spcBef>
                <a:spcPts val="0"/>
              </a:spcBef>
              <a:buSzPct val="100000"/>
              <a:defRPr sz="900"/>
            </a:lvl6pPr>
            <a:lvl7pPr lvl="6">
              <a:spcBef>
                <a:spcPts val="0"/>
              </a:spcBef>
              <a:buSzPct val="100000"/>
              <a:defRPr sz="900"/>
            </a:lvl7pPr>
            <a:lvl8pPr lvl="7">
              <a:spcBef>
                <a:spcPts val="0"/>
              </a:spcBef>
              <a:buSzPct val="100000"/>
              <a:defRPr sz="900"/>
            </a:lvl8pPr>
            <a:lvl9pPr lvl="8">
              <a:spcBef>
                <a:spcPts val="0"/>
              </a:spcBef>
              <a:buSzPct val="100000"/>
              <a:defRPr sz="900"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72458" y="6217621"/>
            <a:ext cx="5486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prstClr val="white"/>
                </a:solidFill>
              </a:rPr>
              <a:pPr/>
              <a:t>‹#›</a:t>
            </a:fld>
            <a:endParaRPr lang="en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633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7" y="351211"/>
            <a:ext cx="8382000" cy="553998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1" y="1411553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020015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1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xfrm>
            <a:off x="669727" y="312540"/>
            <a:ext cx="7804547" cy="151804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8422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429002"/>
            <a:ext cx="9144000" cy="3428999"/>
          </a:xfrm>
          <a:prstGeom prst="rect">
            <a:avLst/>
          </a:prstGeom>
          <a:solidFill>
            <a:srgbClr val="585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0" y="2"/>
            <a:ext cx="9144000" cy="3428999"/>
          </a:xfrm>
          <a:prstGeom prst="rect">
            <a:avLst/>
          </a:prstGeom>
          <a:solidFill>
            <a:srgbClr val="ADB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46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1" y="0"/>
            <a:ext cx="7043208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0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6" y="4344989"/>
            <a:ext cx="704320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342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50" y="2355850"/>
            <a:ext cx="7690114" cy="1384994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7499" b="1" i="1" u="none" strike="noStrike" kern="1200" cap="none" spc="-48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264034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4E13-E3BF-4903-813C-7376B0CF5F4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8966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2134-2F67-4525-96C4-8257CF5AC94E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506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E9685-78AD-45FB-8A86-923A8C742DF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841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9296-DB27-46CE-842D-ACB107B46D9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473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C5A6-E2A6-412F-90D9-9A43A20433B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2176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7E4FE-4821-4B0E-818C-1AE21B05BF7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6202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FB4A-E6B4-418B-B124-B58C9133A5B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2A6409-2433-C4B1-5920-EE052F5BE162}"/>
              </a:ext>
            </a:extLst>
          </p:cNvPr>
          <p:cNvSpPr/>
          <p:nvPr userDrawn="1"/>
        </p:nvSpPr>
        <p:spPr>
          <a:xfrm flipV="1">
            <a:off x="0" y="-237847"/>
            <a:ext cx="9144000" cy="4266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F747B3-208B-9952-247B-D294ADCA2288}"/>
              </a:ext>
            </a:extLst>
          </p:cNvPr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D575E3-9C66-3C58-B6B8-69494A928B2A}"/>
              </a:ext>
            </a:extLst>
          </p:cNvPr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CA3B9-33A2-760E-0DEF-43FA096B22DB}"/>
              </a:ext>
            </a:extLst>
          </p:cNvPr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5059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65C3B-D853-4283-814C-C175535DD33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9573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07030-EB9C-4798-8FBE-683BC72BF9E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9100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2598-55B7-4BE4-98FC-9BFE6CB1E4AF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pPr defTabSz="3429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2664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2FA3-E7E8-4150-985C-52E204EAD1CB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pPr defTabSz="3429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49776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F8F5-FDE8-4450-A714-3BCB3C45AEBA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pPr defTabSz="3429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2554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86DE-0289-4C05-B37C-8F29C55EBA79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pPr defTabSz="3429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00613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DF1C-81C0-4BBB-869C-DF1EDE83AB0B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pPr defTabSz="3429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3116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973-8C7E-4944-A247-EC14761C1C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0326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30D3-8431-4D3E-80C5-D4D5D7ACFEE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4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767" y="11752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" y="6492876"/>
            <a:ext cx="9144000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626821" y="584452"/>
            <a:ext cx="851717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-1" y="6590108"/>
            <a:ext cx="9144001" cy="267893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pPr defTabSz="3429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9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39D15-B90B-404B-BE0E-DCB4C451C089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pPr defTabSz="3429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49A9BF-21B3-92AB-98E5-13038F47BA03}"/>
              </a:ext>
            </a:extLst>
          </p:cNvPr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E584FE-E0A6-CA5B-831B-984CE0AED45D}"/>
              </a:ext>
            </a:extLst>
          </p:cNvPr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6D33D2-97D0-2D26-EB52-641301F5AC14}"/>
              </a:ext>
            </a:extLst>
          </p:cNvPr>
          <p:cNvSpPr/>
          <p:nvPr userDrawn="1"/>
        </p:nvSpPr>
        <p:spPr>
          <a:xfrm>
            <a:off x="1" y="6492876"/>
            <a:ext cx="9144000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BDE8DA-4D5F-DDFA-3DA8-76CAE852512D}"/>
              </a:ext>
            </a:extLst>
          </p:cNvPr>
          <p:cNvSpPr/>
          <p:nvPr userDrawn="1"/>
        </p:nvSpPr>
        <p:spPr>
          <a:xfrm flipV="1">
            <a:off x="626821" y="584452"/>
            <a:ext cx="851717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82F61B-A59E-0A70-295D-4A4087DB685E}"/>
              </a:ext>
            </a:extLst>
          </p:cNvPr>
          <p:cNvSpPr/>
          <p:nvPr userDrawn="1"/>
        </p:nvSpPr>
        <p:spPr>
          <a:xfrm>
            <a:off x="-1" y="6590108"/>
            <a:ext cx="9144001" cy="267893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BFECAE-A56E-39F2-6B59-56D233CC2E34}"/>
              </a:ext>
            </a:extLst>
          </p:cNvPr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90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305369" cy="1320800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Potato Disease Prediction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BA51E-7CC5-C365-4C44-02BEF0866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rial Black" panose="020B0A04020102020204" pitchFamily="34" charset="0"/>
              </a:rPr>
              <a:t>Presented by:</a:t>
            </a:r>
          </a:p>
          <a:p>
            <a:pPr marL="0" indent="0">
              <a:buNone/>
            </a:pPr>
            <a:r>
              <a:rPr lang="en-US" sz="2400" dirty="0">
                <a:latin typeface="Algerian" panose="04020705040A02060702" pitchFamily="82" charset="0"/>
              </a:rPr>
              <a:t>1.SUNIL  B E                  -R23EA124</a:t>
            </a:r>
          </a:p>
          <a:p>
            <a:pPr marL="0" indent="0">
              <a:buNone/>
            </a:pPr>
            <a:r>
              <a:rPr lang="en-US" sz="2400" dirty="0">
                <a:latin typeface="Algerian" panose="04020705040A02060702" pitchFamily="82" charset="0"/>
              </a:rPr>
              <a:t>2.THARUN GOWDA CS -R23EA129</a:t>
            </a:r>
          </a:p>
          <a:p>
            <a:pPr marL="0" indent="0">
              <a:buNone/>
            </a:pPr>
            <a:r>
              <a:rPr lang="en-US" sz="2400" dirty="0">
                <a:latin typeface="Algerian" panose="04020705040A02060702" pitchFamily="82" charset="0"/>
              </a:rPr>
              <a:t>3.VIKAS KUMAR          -R23EA132</a:t>
            </a:r>
          </a:p>
          <a:p>
            <a:pPr marL="0" indent="0">
              <a:buNone/>
            </a:pPr>
            <a:r>
              <a:rPr lang="en-US" sz="2400" dirty="0">
                <a:latin typeface="Algerian" panose="04020705040A02060702" pitchFamily="82" charset="0"/>
              </a:rPr>
              <a:t>4.VINAYAK                   -R23EA134</a:t>
            </a:r>
          </a:p>
        </p:txBody>
      </p:sp>
    </p:spTree>
    <p:extLst>
      <p:ext uri="{BB962C8B-B14F-4D97-AF65-F5344CB8AC3E}">
        <p14:creationId xmlns:p14="http://schemas.microsoft.com/office/powerpoint/2010/main" val="290596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43666"/>
            <a:ext cx="6347714" cy="4497698"/>
          </a:xfrm>
        </p:spPr>
        <p:txBody>
          <a:bodyPr/>
          <a:lstStyle/>
          <a:p>
            <a:r>
              <a:rPr lang="en-US" sz="2400" dirty="0">
                <a:latin typeface="Arial Rounded MT Bold" panose="020F0704030504030204" pitchFamily="34" charset="0"/>
              </a:rPr>
              <a:t>Farmers often face heavy losses due to late identification of potato diseases like </a:t>
            </a:r>
            <a:r>
              <a:rPr lang="en-US" sz="2400" i="1" u="sng" dirty="0">
                <a:latin typeface="Arial Rounded MT Bold" panose="020F0704030504030204" pitchFamily="34" charset="0"/>
              </a:rPr>
              <a:t>Early Blight</a:t>
            </a:r>
            <a:r>
              <a:rPr lang="en-US" sz="2400" u="sng" dirty="0">
                <a:latin typeface="Arial Rounded MT Bold" panose="020F0704030504030204" pitchFamily="34" charset="0"/>
              </a:rPr>
              <a:t> </a:t>
            </a:r>
            <a:r>
              <a:rPr lang="en-US" sz="2400" dirty="0">
                <a:latin typeface="Arial Rounded MT Bold" panose="020F0704030504030204" pitchFamily="34" charset="0"/>
              </a:rPr>
              <a:t>and </a:t>
            </a:r>
            <a:r>
              <a:rPr lang="en-US" sz="2400" i="1" u="sng" dirty="0">
                <a:latin typeface="Arial Rounded MT Bold" panose="020F0704030504030204" pitchFamily="34" charset="0"/>
              </a:rPr>
              <a:t>Late Blight</a:t>
            </a:r>
            <a:r>
              <a:rPr lang="en-US" sz="2400" dirty="0">
                <a:latin typeface="Arial Rounded MT Bold" panose="020F0704030504030204" pitchFamily="34" charset="0"/>
              </a:rPr>
              <a:t>.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Most of them depend on manual observation which is time-consuming, inaccurate, and requires expert knowledge.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By the time symptoms are visible, the infection might have already spread to other plants, leading to reduced yield and income loss.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44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>
                <a:latin typeface="Bookman Old Style" panose="02050604050505020204" pitchFamily="18" charset="0"/>
              </a:rPr>
              <a:t>Product/ Solution - Innovation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BB9B79-8862-84C3-4D72-136872281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930400"/>
            <a:ext cx="929292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We propose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AI-based image classification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to predict potato leaf diseases.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Farmers can take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photo of the potato leaf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using a mobile camera.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The system will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analyze the image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and predict whether the leaf is healthy or infected.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It also 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suggested remedies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preventive measures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The solution aims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accuracy, speed, and ease of use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730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045E-88EB-8EDB-6E89-DB74BD2B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Working Principle</a:t>
            </a:r>
            <a:endParaRPr lang="en-IN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6DF52C-7DAC-86A1-0DC7-E6CA4FEDCD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576558"/>
            <a:ext cx="916479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Step 1: Collect potato leaf images from open datasets like Kaggle.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Step 2: Preprocess the images (resize, normalize, augment).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Step 3: Train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Convolutional Neural Network (CNN)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to classify diseases.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Step 4: Deploy the model using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Flask web application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Step 5: User uploads a leaf image → Model predicts disease → Displays result and cure.</a:t>
            </a:r>
          </a:p>
        </p:txBody>
      </p:sp>
    </p:spTree>
    <p:extLst>
      <p:ext uri="{BB962C8B-B14F-4D97-AF65-F5344CB8AC3E}">
        <p14:creationId xmlns:p14="http://schemas.microsoft.com/office/powerpoint/2010/main" val="155219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6953-E7DD-C529-D6E5-52BB9E69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Innovations and Uniqueness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6D583B-2343-2627-6D53-5590A04F0E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784458"/>
            <a:ext cx="948368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specifically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potato diseases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unlike general crop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diagnosis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deep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to work even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internet or offline mode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remedy suggestions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language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(planned feature).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precision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 accessibility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221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Product/ Solution - Readiness Level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327E6B-0089-30F1-7971-B0A71E24C9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521" y="2042837"/>
            <a:ext cx="888095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Current Stage: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Prototype (Proof of Concept)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Dataset: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Potato Leaf Disease Dataset (Kaggle, </a:t>
            </a:r>
            <a:r>
              <a:rPr lang="en-US" altLang="en-US" sz="2400" dirty="0">
                <a:solidFill>
                  <a:schemeClr val="tx1"/>
                </a:solidFill>
              </a:rPr>
              <a:t>2,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000+ images)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CNN trained using TensorFlow/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Keras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Interface: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Flask web app (under development)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Next Step: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Integration with Android app for farmers</a:t>
            </a:r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BF300-3B28-D74C-67A7-8508A0995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Product Readiness</a:t>
            </a:r>
            <a:endParaRPr lang="en-IN" b="1" u="s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25349A-3632-A829-99CD-2D8C654A0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82994"/>
            <a:ext cx="7570839" cy="404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21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5E627-483D-777A-C3E6-5B376A722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Ideal Customer Profile</a:t>
            </a:r>
            <a:endParaRPr lang="en-IN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9C0154-A438-F8B8-AC89-BA567C8B31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3290" y="1702269"/>
            <a:ext cx="861165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 Users: Farmers, Agri Officers, and Crop Researchers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Region: Rural and semi-urban areas with large potato cultivation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Age Group: 25–60 years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Device: Smartphone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Goal: Early and accurate disease detection to improve yield and income</a:t>
            </a:r>
          </a:p>
        </p:txBody>
      </p:sp>
    </p:spTree>
    <p:extLst>
      <p:ext uri="{BB962C8B-B14F-4D97-AF65-F5344CB8AC3E}">
        <p14:creationId xmlns:p14="http://schemas.microsoft.com/office/powerpoint/2010/main" val="1068010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04D87-F986-C981-A71D-B30CF1E0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Customer Persona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8FC74-45B7-7D55-1A17-0208FFD06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2658"/>
            <a:ext cx="6347714" cy="4438705"/>
          </a:xfrm>
        </p:spPr>
        <p:txBody>
          <a:bodyPr>
            <a:normAutofit/>
          </a:bodyPr>
          <a:lstStyle/>
          <a:p>
            <a:r>
              <a:rPr lang="en-US" sz="2400" u="sng" dirty="0"/>
              <a:t>Name</a:t>
            </a:r>
            <a:r>
              <a:rPr lang="en-US" sz="2400" dirty="0"/>
              <a:t>: Ramesh</a:t>
            </a:r>
          </a:p>
          <a:p>
            <a:r>
              <a:rPr lang="en-US" sz="2400" u="sng" dirty="0"/>
              <a:t>Age</a:t>
            </a:r>
            <a:r>
              <a:rPr lang="en-US" sz="2400" dirty="0"/>
              <a:t>: 38</a:t>
            </a:r>
          </a:p>
          <a:p>
            <a:r>
              <a:rPr lang="en-US" sz="2400" u="sng" dirty="0"/>
              <a:t>Location</a:t>
            </a:r>
            <a:r>
              <a:rPr lang="en-US" sz="2400" dirty="0"/>
              <a:t>: Hassan , Karnataka</a:t>
            </a:r>
          </a:p>
          <a:p>
            <a:r>
              <a:rPr lang="en-US" sz="2400" u="sng" dirty="0"/>
              <a:t>Occupation</a:t>
            </a:r>
            <a:r>
              <a:rPr lang="en-US" sz="2400" dirty="0"/>
              <a:t>: Potato Farmer</a:t>
            </a:r>
          </a:p>
          <a:p>
            <a:r>
              <a:rPr lang="en-US" sz="2400" u="sng" dirty="0"/>
              <a:t>Challenges</a:t>
            </a:r>
            <a:r>
              <a:rPr lang="en-US" sz="2400" dirty="0"/>
              <a:t>: Struggles to identify diseases early</a:t>
            </a:r>
          </a:p>
          <a:p>
            <a:r>
              <a:rPr lang="en-US" sz="2400" u="sng" dirty="0"/>
              <a:t>Goals</a:t>
            </a:r>
            <a:r>
              <a:rPr lang="en-US" sz="2400" dirty="0"/>
              <a:t>: Wants a simple, low cost tool to detect disease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69451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10BA-D45F-603E-6F16-C6C6895D3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Customer Insights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5A0B4-B32A-AB37-F839-8650D57E3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94504"/>
            <a:ext cx="6347714" cy="4546860"/>
          </a:xfrm>
        </p:spPr>
        <p:txBody>
          <a:bodyPr>
            <a:normAutofit/>
          </a:bodyPr>
          <a:lstStyle/>
          <a:p>
            <a:r>
              <a:rPr lang="en-US" sz="2000" dirty="0"/>
              <a:t>Farmers shared that they face repeated crop loss due to unrecognized leaf spots.</a:t>
            </a:r>
          </a:p>
          <a:p>
            <a:r>
              <a:rPr lang="en-US" sz="2000" dirty="0"/>
              <a:t>Many use wrong pesticides because they can’t identify the problem.</a:t>
            </a:r>
          </a:p>
          <a:p>
            <a:r>
              <a:rPr lang="en-US" sz="2000" dirty="0"/>
              <a:t>They prefer apps that are simple, visual, and available offline.</a:t>
            </a:r>
          </a:p>
          <a:p>
            <a:r>
              <a:rPr lang="en-US" sz="2000" dirty="0"/>
              <a:t>Most are ready to use AI-based tools if explained clearly in their language.</a:t>
            </a:r>
          </a:p>
          <a:p>
            <a:r>
              <a:rPr lang="en-US" sz="2000" dirty="0"/>
              <a:t>Feedback helped us focus on simplicity and practicality in design.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39805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/>
              <a:t>Team Size, Background, Strength /Capability and Resources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928ADB-AB98-258A-00C6-32E51F308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8079371"/>
              </p:ext>
            </p:extLst>
          </p:nvPr>
        </p:nvGraphicFramePr>
        <p:xfrm>
          <a:off x="609600" y="1720645"/>
          <a:ext cx="6912078" cy="4058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026">
                  <a:extLst>
                    <a:ext uri="{9D8B030D-6E8A-4147-A177-3AD203B41FA5}">
                      <a16:colId xmlns:a16="http://schemas.microsoft.com/office/drawing/2014/main" val="1108441046"/>
                    </a:ext>
                  </a:extLst>
                </a:gridCol>
                <a:gridCol w="2304026">
                  <a:extLst>
                    <a:ext uri="{9D8B030D-6E8A-4147-A177-3AD203B41FA5}">
                      <a16:colId xmlns:a16="http://schemas.microsoft.com/office/drawing/2014/main" val="2328880849"/>
                    </a:ext>
                  </a:extLst>
                </a:gridCol>
                <a:gridCol w="2304026">
                  <a:extLst>
                    <a:ext uri="{9D8B030D-6E8A-4147-A177-3AD203B41FA5}">
                      <a16:colId xmlns:a16="http://schemas.microsoft.com/office/drawing/2014/main" val="1149393998"/>
                    </a:ext>
                  </a:extLst>
                </a:gridCol>
              </a:tblGrid>
              <a:tr h="743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Designation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1055980"/>
                  </a:ext>
                </a:extLst>
              </a:tr>
              <a:tr h="743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</a:t>
                      </a:r>
                      <a:r>
                        <a:rPr lang="en-IN" dirty="0"/>
                        <a:t>ikas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Team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 training &amp;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392920"/>
                  </a:ext>
                </a:extLst>
              </a:tr>
              <a:tr h="743319">
                <a:tc>
                  <a:txBody>
                    <a:bodyPr/>
                    <a:lstStyle/>
                    <a:p>
                      <a:r>
                        <a:rPr lang="en-US" dirty="0"/>
                        <a:t>Sunil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UI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flask web interface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55263"/>
                  </a:ext>
                </a:extLst>
              </a:tr>
              <a:tr h="743319">
                <a:tc>
                  <a:txBody>
                    <a:bodyPr/>
                    <a:lstStyle/>
                    <a:p>
                      <a:r>
                        <a:rPr lang="en-US" dirty="0"/>
                        <a:t>Tharun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 end developer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and implemented the backend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837562"/>
                  </a:ext>
                </a:extLst>
              </a:tr>
              <a:tr h="743319">
                <a:tc>
                  <a:txBody>
                    <a:bodyPr/>
                    <a:lstStyle/>
                    <a:p>
                      <a:r>
                        <a:rPr lang="en-US" dirty="0"/>
                        <a:t>Vinayak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Integrator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Ensures all the modules work together.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61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Market Landscape - Market Potential, Competitors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India has over 2 million potato farmers, creating huge potential user base.</a:t>
            </a:r>
          </a:p>
          <a:p>
            <a:r>
              <a:rPr lang="en-US" dirty="0"/>
              <a:t>AI in agricultural is a growing market, expected to cross $3B by 2026.</a:t>
            </a:r>
          </a:p>
          <a:p>
            <a:r>
              <a:rPr lang="en-US" dirty="0"/>
              <a:t>Our system focuses only on potato.</a:t>
            </a:r>
          </a:p>
          <a:p>
            <a:r>
              <a:rPr lang="en-US" u="sng" dirty="0"/>
              <a:t>Future Goals</a:t>
            </a:r>
            <a:r>
              <a:rPr lang="en-US" dirty="0"/>
              <a:t>: Collaborate with agricultural departments and local cooperatives.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Business Model &amp;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88613"/>
            <a:ext cx="6347714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1.</a:t>
            </a:r>
            <a:r>
              <a:rPr lang="en-US" sz="2000" b="1" u="sng" dirty="0"/>
              <a:t>Revenue Model</a:t>
            </a:r>
            <a:r>
              <a:rPr lang="en-US" sz="2000" dirty="0"/>
              <a:t>:</a:t>
            </a:r>
          </a:p>
          <a:p>
            <a:r>
              <a:rPr lang="en-US" sz="2000" dirty="0"/>
              <a:t>Free basic app for farmers.</a:t>
            </a:r>
          </a:p>
          <a:p>
            <a:r>
              <a:rPr lang="en-US" sz="2000" dirty="0"/>
              <a:t>Premium versions for Agri-officers.</a:t>
            </a:r>
          </a:p>
          <a:p>
            <a:r>
              <a:rPr lang="en-US" sz="2000" dirty="0"/>
              <a:t>Advertisement and partnership model with fertilizer companies.</a:t>
            </a:r>
          </a:p>
          <a:p>
            <a:pPr marL="0" indent="0">
              <a:buNone/>
            </a:pPr>
            <a:r>
              <a:rPr lang="en-US" sz="2000" dirty="0"/>
              <a:t>2.</a:t>
            </a:r>
            <a:r>
              <a:rPr lang="en-US" sz="2000" b="1" u="sng" dirty="0"/>
              <a:t>Future Strategy</a:t>
            </a:r>
            <a:r>
              <a:rPr lang="en-US" sz="2000" dirty="0"/>
              <a:t>:</a:t>
            </a:r>
          </a:p>
          <a:p>
            <a:r>
              <a:rPr lang="en-US" sz="2000" dirty="0"/>
              <a:t>Expand to other crops and regional languages.`</a:t>
            </a:r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Product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1</a:t>
            </a:r>
            <a:r>
              <a:rPr lang="en-IN" baseline="30000"/>
              <a:t>st</a:t>
            </a:r>
            <a:r>
              <a:rPr lang="en-IN"/>
              <a:t> Milestone: Minimal Viable Product(MVP)-IA2</a:t>
            </a:r>
          </a:p>
          <a:p>
            <a:endParaRPr lang="en-IN"/>
          </a:p>
          <a:p>
            <a:r>
              <a:rPr lang="en-IN"/>
              <a:t>Final working product demo with pitch-SEE</a:t>
            </a:r>
          </a:p>
        </p:txBody>
      </p:sp>
    </p:spTree>
    <p:extLst>
      <p:ext uri="{BB962C8B-B14F-4D97-AF65-F5344CB8AC3E}">
        <p14:creationId xmlns:p14="http://schemas.microsoft.com/office/powerpoint/2010/main" val="833600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Total Budget, Required Support and Regulation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6D8AE1-B8E3-BDC4-F791-AB38ABD8D9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5788484"/>
              </p:ext>
            </p:extLst>
          </p:nvPr>
        </p:nvGraphicFramePr>
        <p:xfrm>
          <a:off x="609599" y="1930398"/>
          <a:ext cx="6685936" cy="3723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2968">
                  <a:extLst>
                    <a:ext uri="{9D8B030D-6E8A-4147-A177-3AD203B41FA5}">
                      <a16:colId xmlns:a16="http://schemas.microsoft.com/office/drawing/2014/main" val="3107718409"/>
                    </a:ext>
                  </a:extLst>
                </a:gridCol>
                <a:gridCol w="3342968">
                  <a:extLst>
                    <a:ext uri="{9D8B030D-6E8A-4147-A177-3AD203B41FA5}">
                      <a16:colId xmlns:a16="http://schemas.microsoft.com/office/drawing/2014/main" val="4210951356"/>
                    </a:ext>
                  </a:extLst>
                </a:gridCol>
              </a:tblGrid>
              <a:tr h="62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Cost (₹</a:t>
                      </a:r>
                      <a:r>
                        <a:rPr lang="en-IN"/>
                        <a:t>)(approx.)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085211"/>
                  </a:ext>
                </a:extLst>
              </a:tr>
              <a:tr h="62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Hardware/Infrastructure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684290"/>
                  </a:ext>
                </a:extLst>
              </a:tr>
              <a:tr h="62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/ Server Resources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170244"/>
                  </a:ext>
                </a:extLst>
              </a:tr>
              <a:tr h="62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Marketing &amp; Awareness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7214804"/>
                  </a:ext>
                </a:extLst>
              </a:tr>
              <a:tr h="62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 &amp;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09965"/>
                  </a:ext>
                </a:extLst>
              </a:tr>
              <a:tr h="62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 / 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1072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7F69-F464-CEAD-087A-E18CF43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Support Needed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86010-537E-CA7D-444C-1A3F068CB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488613"/>
            <a:ext cx="6347714" cy="3880773"/>
          </a:xfrm>
        </p:spPr>
        <p:txBody>
          <a:bodyPr>
            <a:normAutofit/>
          </a:bodyPr>
          <a:lstStyle/>
          <a:p>
            <a:r>
              <a:rPr lang="en-US" sz="2400" dirty="0"/>
              <a:t>Mentorship for Deployment.</a:t>
            </a:r>
          </a:p>
          <a:p>
            <a:r>
              <a:rPr lang="en-US" sz="2400" dirty="0"/>
              <a:t>Funding for Scaling and Hosting.</a:t>
            </a:r>
          </a:p>
          <a:p>
            <a:r>
              <a:rPr lang="en-US" sz="2400" dirty="0"/>
              <a:t>Access to better image datasets.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63945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44704-75DE-5AEF-A0F1-1F98F7E3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534" y="2625213"/>
            <a:ext cx="6347713" cy="1320800"/>
          </a:xfrm>
        </p:spPr>
        <p:txBody>
          <a:bodyPr>
            <a:normAutofit/>
          </a:bodyPr>
          <a:lstStyle/>
          <a:p>
            <a:r>
              <a:rPr lang="en-US" sz="4000" b="1" u="sng" dirty="0"/>
              <a:t>THANK YOU</a:t>
            </a:r>
            <a:endParaRPr lang="en-IN" sz="4000" b="1" u="sng" dirty="0"/>
          </a:p>
        </p:txBody>
      </p:sp>
    </p:spTree>
    <p:extLst>
      <p:ext uri="{BB962C8B-B14F-4D97-AF65-F5344CB8AC3E}">
        <p14:creationId xmlns:p14="http://schemas.microsoft.com/office/powerpoint/2010/main" val="1917844149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708</Words>
  <Application>Microsoft Office PowerPoint</Application>
  <PresentationFormat>On-screen Show (4:3)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2" baseType="lpstr">
      <vt:lpstr>Algerian</vt:lpstr>
      <vt:lpstr>Aptos Display</vt:lpstr>
      <vt:lpstr>Arial</vt:lpstr>
      <vt:lpstr>Arial Black</vt:lpstr>
      <vt:lpstr>Arial Rounded MT Bold</vt:lpstr>
      <vt:lpstr>Bahnschrift Light Condensed</vt:lpstr>
      <vt:lpstr>Bookman Old Style</vt:lpstr>
      <vt:lpstr>Calibri</vt:lpstr>
      <vt:lpstr>Calibri Light</vt:lpstr>
      <vt:lpstr>Courier New</vt:lpstr>
      <vt:lpstr>Garamond</vt:lpstr>
      <vt:lpstr>Trebuchet MS</vt:lpstr>
      <vt:lpstr>Wingdings 3</vt:lpstr>
      <vt:lpstr>5_Office Theme</vt:lpstr>
      <vt:lpstr>Facet</vt:lpstr>
      <vt:lpstr>Potato Disease Prediction </vt:lpstr>
      <vt:lpstr>Problem Statement</vt:lpstr>
      <vt:lpstr>Product/ Solution - Innovation</vt:lpstr>
      <vt:lpstr>Working Principle</vt:lpstr>
      <vt:lpstr>Innovations and Uniqueness.</vt:lpstr>
      <vt:lpstr>Product/ Solution - Readiness Level</vt:lpstr>
      <vt:lpstr>Product Readiness</vt:lpstr>
      <vt:lpstr>Ideal Customer Profile</vt:lpstr>
      <vt:lpstr>Customer Persona</vt:lpstr>
      <vt:lpstr>Customer Insights</vt:lpstr>
      <vt:lpstr>Team Size, Background, Strength /Capability and Resources</vt:lpstr>
      <vt:lpstr>Market Landscape - Market Potential, Competitors</vt:lpstr>
      <vt:lpstr>Business Model &amp; Strategy</vt:lpstr>
      <vt:lpstr>Product Milestones</vt:lpstr>
      <vt:lpstr>Total Budget, Required Support and Regulation</vt:lpstr>
      <vt:lpstr>Support Needed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template of PPT -  Application for Pitching</dc:title>
  <dc:creator>Admin</dc:creator>
  <cp:lastModifiedBy>THARUN GOWDA CS</cp:lastModifiedBy>
  <cp:revision>5</cp:revision>
  <dcterms:created xsi:type="dcterms:W3CDTF">2017-07-03T16:53:36Z</dcterms:created>
  <dcterms:modified xsi:type="dcterms:W3CDTF">2025-12-12T14:35:03Z</dcterms:modified>
</cp:coreProperties>
</file>